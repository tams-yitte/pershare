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28600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329184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429768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7432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28016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28600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329184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429768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27432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28016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28600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329184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429768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17" name="Shape 15"/>
          <p:cNvSpPr/>
          <p:nvPr/>
        </p:nvSpPr>
        <p:spPr>
          <a:xfrm>
            <a:off x="3566160" y="27432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128016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0" y="228600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329184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429768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27432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128016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228600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329184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429768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27" name="Shape 25"/>
          <p:cNvSpPr/>
          <p:nvPr/>
        </p:nvSpPr>
        <p:spPr>
          <a:xfrm>
            <a:off x="5760720" y="27432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28" name="Shape 26"/>
          <p:cNvSpPr/>
          <p:nvPr/>
        </p:nvSpPr>
        <p:spPr>
          <a:xfrm>
            <a:off x="5760720" y="128016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29" name="Shape 27"/>
          <p:cNvSpPr/>
          <p:nvPr/>
        </p:nvSpPr>
        <p:spPr>
          <a:xfrm>
            <a:off x="5760720" y="228600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329184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0" y="429768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27432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0" y="128016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0" y="228600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0" y="329184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429768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37" name="Shape 35"/>
          <p:cNvSpPr/>
          <p:nvPr/>
        </p:nvSpPr>
        <p:spPr>
          <a:xfrm>
            <a:off x="7955280" y="27432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38" name="Shape 36"/>
          <p:cNvSpPr/>
          <p:nvPr/>
        </p:nvSpPr>
        <p:spPr>
          <a:xfrm>
            <a:off x="7955280" y="128016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39" name="Shape 37"/>
          <p:cNvSpPr/>
          <p:nvPr/>
        </p:nvSpPr>
        <p:spPr>
          <a:xfrm>
            <a:off x="7955280" y="228600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40" name="Shape 38"/>
          <p:cNvSpPr/>
          <p:nvPr/>
        </p:nvSpPr>
        <p:spPr>
          <a:xfrm>
            <a:off x="7955280" y="329184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41" name="Shape 39"/>
          <p:cNvSpPr/>
          <p:nvPr/>
        </p:nvSpPr>
        <p:spPr>
          <a:xfrm>
            <a:off x="7955280" y="4297680"/>
            <a:ext cx="54864" cy="54864"/>
          </a:xfrm>
          <a:prstGeom prst="ellipse">
            <a:avLst/>
          </a:prstGeom>
          <a:solidFill>
            <a:srgbClr val="252535"/>
          </a:solidFill>
          <a:ln/>
        </p:spPr>
      </p:sp>
      <p:sp>
        <p:nvSpPr>
          <p:cNvPr id="42" name="Shape 4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4C1D95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57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</a:t>
            </a:r>
            <a:pPr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5200" dirty="0"/>
          </a:p>
        </p:txBody>
      </p:sp>
      <p:sp>
        <p:nvSpPr>
          <p:cNvPr id="44" name="Text 42"/>
          <p:cNvSpPr/>
          <p:nvPr/>
        </p:nvSpPr>
        <p:spPr>
          <a:xfrm>
            <a:off x="566928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membre recoit sa part.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548640" y="2514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D5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Automatiquement. Onchain.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 Chain · USDT · Non-custodial · Juin 2025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0" y="1645920"/>
            <a:ext cx="2468880" cy="411480"/>
          </a:xfrm>
          <a:prstGeom prst="roundRect">
            <a:avLst>
              <a:gd name="adj" fmla="val 22222"/>
            </a:avLst>
          </a:prstGeom>
          <a:solidFill>
            <a:srgbClr val="1C1C27">
              <a:alpha val="80000"/>
            </a:srgbClr>
          </a:solidFill>
          <a:ln w="635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 Transfert conditionnel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00800" y="2194560"/>
            <a:ext cx="2468880" cy="411480"/>
          </a:xfrm>
          <a:prstGeom prst="roundRect">
            <a:avLst>
              <a:gd name="adj" fmla="val 22222"/>
            </a:avLst>
          </a:prstGeom>
          <a:solidFill>
            <a:srgbClr val="1C1C27">
              <a:alpha val="80000"/>
            </a:srgbClr>
          </a:solidFill>
          <a:ln w="635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🌊  Pool collective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00800" y="2743200"/>
            <a:ext cx="2468880" cy="411480"/>
          </a:xfrm>
          <a:prstGeom prst="roundRect">
            <a:avLst>
              <a:gd name="adj" fmla="val 22222"/>
            </a:avLst>
          </a:prstGeom>
          <a:solidFill>
            <a:srgbClr val="1C1C27">
              <a:alpha val="80000"/>
            </a:srgbClr>
          </a:solidFill>
          <a:ln w="635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Group buy presale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probleme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quelque chose en groupe reste casse-pieds.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1188720"/>
          </a:xfrm>
          <a:prstGeom prst="roundRect">
            <a:avLst>
              <a:gd name="adj" fmla="val 11538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Presale a 1 000 USDT minimum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as 300 USDT. Tu es exclu.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4114800" cy="1188720"/>
          </a:xfrm>
          <a:prstGeom prst="roundRect">
            <a:avLst>
              <a:gd name="adj" fmla="val 11538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 ensemble sans se faire confiance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garde l'argent ? Et si quelqu'un disparait 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554480"/>
            <a:ext cx="4114800" cy="1188720"/>
          </a:xfrm>
          <a:prstGeom prst="roundRect">
            <a:avLst>
              <a:gd name="adj" fmla="val 11538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321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Partager des frais en groupe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Splitwise ne fait pas de crypto. Les outils crypto sont trop complexes.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114800" cy="1188720"/>
          </a:xfrm>
          <a:prstGeom prst="roundRect">
            <a:avLst>
              <a:gd name="adj" fmla="val 11538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3212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Afrique &amp; Asie laissees de cote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600M de personnes font des tontines. Aucun outil Web3 ne les adresse.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contrat. Trois produits. Zero intermediaire.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63040"/>
            <a:ext cx="27432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965960" y="166420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Transfert conditionnel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membres. L'argent part seulement quand les deux valident. Sinon remboursement automatique.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463040"/>
            <a:ext cx="27432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846320" y="166420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collective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27889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Jusqu'a 50 membres. Voyage, cadeau, charges, financement. Chacun contribue ce qu'il peut.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46304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463040"/>
            <a:ext cx="27432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7726680" y="166420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Exclusif BNB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buy presale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27889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Souscrivez ensemble. Les tokens arrivent dans le contrat et sont redistribues automatiquement selon les parts.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ca marche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buy presale — les 2 phases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Collecte et envoi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membres contribuent en USDT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L'objectif est atteint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collective — threshold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Envoi automatique vers le presale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2377440"/>
            <a:ext cx="2743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C3AED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Redistribution tokens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8288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Presale envoie les tokens vers PerShare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collective Phase 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8346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 40% → 400 tokens automatiquement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33756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40% → 400 tokens automatiquement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2519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parts sont calculees automatiquement depuis les contributions USDT. Pas de Safe. Pas d'avocat. Pas de confiance aveugle.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4C1D95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tontine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numerique.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millions de personnes pratiquent deja des pools collectives — tontine africaine, arisan indonesien, chit fund indien. PerShare est la version onchain — transparente, automatique, accessible via Mobile Money.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822960"/>
            <a:ext cx="3657600" cy="1097280"/>
          </a:xfrm>
          <a:prstGeom prst="roundRect">
            <a:avLst>
              <a:gd name="adj" fmla="val 12500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822960"/>
            <a:ext cx="54864" cy="1097280"/>
          </a:xfrm>
          <a:prstGeom prst="rect">
            <a:avLst/>
          </a:prstGeom>
          <a:solidFill>
            <a:srgbClr val="9D5FF0"/>
          </a:solidFill>
          <a:ln/>
        </p:spPr>
      </p:sp>
      <p:sp>
        <p:nvSpPr>
          <p:cNvPr id="8" name="Text 6"/>
          <p:cNvSpPr/>
          <p:nvPr/>
        </p:nvSpPr>
        <p:spPr>
          <a:xfrm>
            <a:off x="5230368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buy presale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30368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5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10 000+ presales/an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103120"/>
            <a:ext cx="3657600" cy="1097280"/>
          </a:xfrm>
          <a:prstGeom prst="roundRect">
            <a:avLst>
              <a:gd name="adj" fmla="val 12500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210312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230368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grand public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0368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 utilisateurs Splitwise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3383280"/>
            <a:ext cx="3657600" cy="1097280"/>
          </a:xfrm>
          <a:prstGeom prst="roundRect">
            <a:avLst>
              <a:gd name="adj" fmla="val 12500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338328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Tontines Afrique / Asie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0368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600M+ pratiquants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cash au wallet. Partout dans le monde.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 / USA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bancaire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 · MoonPay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Afrique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P2P · Yellow Card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55448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3212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GCash · bKash · TrueMoney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3212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Off-ramp mondial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Safe Visa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Depenser USDT directement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PerShare ne gere pas les on-ramps directement — les partenaires s'en chargent avec leurs licences. Zero compliance pour PerShare.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gagne de l'argent quand vous en faites.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9D5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commission automatique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chaque envoi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/ mois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78308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1C1C2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pools / mois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 USDT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1783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USDT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228600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1C1C2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pools / mois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286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250 000 USDT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286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2 500 USDT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278892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1C1C27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pools / mois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1 000 000 USDT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788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USDT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3291840"/>
            <a:ext cx="5394960" cy="411480"/>
          </a:xfrm>
          <a:prstGeom prst="roundRect">
            <a:avLst>
              <a:gd name="adj" fmla="val 13333"/>
            </a:avLst>
          </a:prstGeom>
          <a:solidFill>
            <a:srgbClr val="4C1D9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 pools / mois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5 000 000 USDT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291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 USDT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— Freemium + on-ramp commission · V3 — API B2B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Simple. Auditable. Non-custodial.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4572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Solidity 0.8.20 · OpenZeppelin ReentrancyGuard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4572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04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 Chain (BSC) · Fees micro · Ecosysteme presale natif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00400"/>
            <a:ext cx="4572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USDT / USDC BEP-20 · Pas de token intermediaire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463040"/>
            <a:ext cx="45720" cy="731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RainbowKit · wagmi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31720"/>
            <a:ext cx="45720" cy="7315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404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Protocol · Alertes en temps reel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200400"/>
            <a:ext cx="4572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obligatoire avant mainnet · Certik / Hacken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testnet au mainnet — mode solo.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8046720" cy="27432"/>
          </a:xfrm>
          <a:prstGeom prst="rect">
            <a:avLst/>
          </a:prstGeom>
          <a:solidFill>
            <a:srgbClr val="252535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633472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017520"/>
            <a:ext cx="1645920" cy="1737360"/>
          </a:xfrm>
          <a:prstGeom prst="roundRect">
            <a:avLst>
              <a:gd name="adj" fmla="val 8333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017520"/>
            <a:ext cx="16459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3649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 + Tests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PerShare.sol · 35 tests unitaires · BNB Testnet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2633472"/>
            <a:ext cx="237744" cy="237744"/>
          </a:xfrm>
          <a:prstGeom prst="ellipse">
            <a:avLst/>
          </a:prstGeom>
          <a:solidFill>
            <a:srgbClr val="9D5FF0"/>
          </a:solidFill>
          <a:ln/>
        </p:spPr>
      </p:sp>
      <p:sp>
        <p:nvSpPr>
          <p:cNvPr id="13" name="Shape 11"/>
          <p:cNvSpPr/>
          <p:nvPr/>
        </p:nvSpPr>
        <p:spPr>
          <a:xfrm>
            <a:off x="2148840" y="3017520"/>
            <a:ext cx="1645920" cy="1737360"/>
          </a:xfrm>
          <a:prstGeom prst="roundRect">
            <a:avLst>
              <a:gd name="adj" fmla="val 8333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3017520"/>
            <a:ext cx="1645920" cy="36576"/>
          </a:xfrm>
          <a:prstGeom prst="rect">
            <a:avLst/>
          </a:prstGeom>
          <a:solidFill>
            <a:srgbClr val="9D5FF0"/>
          </a:solidFill>
          <a:ln/>
        </p:spPr>
      </p:sp>
      <p:sp>
        <p:nvSpPr>
          <p:cNvPr id="15" name="Text 13"/>
          <p:cNvSpPr/>
          <p:nvPr/>
        </p:nvSpPr>
        <p:spPr>
          <a:xfrm>
            <a:off x="2240280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D5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3-4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40280" y="33649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40280" y="3749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Next.js · 9 ecrans · Mobile first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2316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3-4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2633472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3017520"/>
            <a:ext cx="1645920" cy="1737360"/>
          </a:xfrm>
          <a:prstGeom prst="roundRect">
            <a:avLst>
              <a:gd name="adj" fmla="val 8333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3017520"/>
            <a:ext cx="1645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0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 2-3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31920" y="33649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3749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Certik / Hacken · Rapport publie · Corrections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 2-3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0760" y="2633472"/>
            <a:ext cx="237744" cy="2377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5532120" y="3017520"/>
            <a:ext cx="1645920" cy="1737360"/>
          </a:xfrm>
          <a:prstGeom prst="roundRect">
            <a:avLst>
              <a:gd name="adj" fmla="val 8333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3017520"/>
            <a:ext cx="16459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 3-4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23560" y="33649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23560" y="3749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 Chain · Premiers SHAREs reels · 1% commission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 3-4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72400" y="2633472"/>
            <a:ext cx="237744" cy="23774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4" name="Shape 32"/>
          <p:cNvSpPr/>
          <p:nvPr/>
        </p:nvSpPr>
        <p:spPr>
          <a:xfrm>
            <a:off x="7223760" y="3017520"/>
            <a:ext cx="1645920" cy="1737360"/>
          </a:xfrm>
          <a:prstGeom prst="roundRect">
            <a:avLst>
              <a:gd name="adj" fmla="val 8333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3017520"/>
            <a:ext cx="16459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 6-12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33649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0" y="3749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On-ramp Transak · Freemium · Cancel / pause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9808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 6-12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Positionnement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 ne fait ca sur BNB Chain.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EEEE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4173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PerShare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EEEEEE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Gnosis Safe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4173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Zealy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14173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EE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Splitwise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8470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buy presale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1847088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1847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1847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1847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1847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286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Redistribution tokens auto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228600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EDE9FE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2724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collective onchain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17520" y="272491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0" y="27249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0" y="27249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60720" y="27249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27249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31638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guide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17520" y="3163824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EDE9FE"/>
          </a:solidFill>
          <a:ln/>
        </p:spPr>
      </p:sp>
      <p:sp>
        <p:nvSpPr>
          <p:cNvPr id="34" name="Text 32"/>
          <p:cNvSpPr/>
          <p:nvPr/>
        </p:nvSpPr>
        <p:spPr>
          <a:xfrm>
            <a:off x="3017520" y="3163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389120" y="3163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60720" y="3163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32320" y="3163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36027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Non-custodial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17520" y="3602736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EDE9FE"/>
          </a:solidFill>
          <a:ln/>
        </p:spPr>
      </p:sp>
      <p:sp>
        <p:nvSpPr>
          <p:cNvPr id="40" name="Text 38"/>
          <p:cNvSpPr/>
          <p:nvPr/>
        </p:nvSpPr>
        <p:spPr>
          <a:xfrm>
            <a:off x="3017520" y="36027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389120" y="36027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760720" y="36027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32320" y="36027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4041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 Chain natif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017520" y="4041648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EDE9FE"/>
          </a:solidFill>
          <a:ln/>
        </p:spPr>
      </p:sp>
      <p:sp>
        <p:nvSpPr>
          <p:cNvPr id="46" name="Text 44"/>
          <p:cNvSpPr/>
          <p:nvPr/>
        </p:nvSpPr>
        <p:spPr>
          <a:xfrm>
            <a:off x="3017520" y="4041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389120" y="4041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760720" y="4041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132320" y="4041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juridique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compliance. Zero avocat. Zero token.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Non-custodial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PerShare n'est pas un etablissement de paiement. Le smart contract detient les fonds — pas PerShare. Modele identique a Uniswap, PancakeSwap, Aave.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5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Revenus de service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commission de 1% est un revenu de service technique — pas un revenu financier. Aucune licence PSP requise.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55448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token au lancement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presale. Pas de promesse de rendement. Pas de revenue share explicite. Le produit genere des revenus reels sans token speculatif.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1C1C27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Domiciliation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Suisse (Zoug) ou France PSAN selon les conditions definitives — avec conseil juridique specialise crypto.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6400800" cy="6400800"/>
          </a:xfrm>
          <a:prstGeom prst="ellipse">
            <a:avLst/>
          </a:prstGeom>
          <a:solidFill>
            <a:srgbClr val="4C1D9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4C1D95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"Dans 5 ans, quand quelqu'un veut faire quelque chose avec un groupe — financer, payer, investir — la premiere question sera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9D5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as cree le SHARE ?"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</a:t>
            </a:r>
            <a:pPr algn="ctr" indent="0" marL="0">
              <a:buNone/>
            </a:pPr>
            <a:r>
              <a:rPr lang="en-US" sz="4000" b="1" dirty="0">
                <a:solidFill>
                  <a:srgbClr val="9D5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pershare.io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PerShare — Deck</dc:title>
  <dc:subject>PptxGenJS Presentation</dc:subject>
  <dc:creator>PptxGenJS</dc:creator>
  <cp:lastModifiedBy>PptxGenJS</cp:lastModifiedBy>
  <cp:revision>1</cp:revision>
  <dcterms:created xsi:type="dcterms:W3CDTF">2026-06-18T13:58:03Z</dcterms:created>
  <dcterms:modified xsi:type="dcterms:W3CDTF">2026-06-18T13:58:03Z</dcterms:modified>
</cp:coreProperties>
</file>